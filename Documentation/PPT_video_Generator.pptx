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5" r:id="rId10"/>
    <p:sldId id="266" r:id="rId11"/>
    <p:sldId id="264" r:id="rId12"/>
    <p:sldId id="267" r:id="rId13"/>
    <p:sldId id="268" r:id="rId14"/>
    <p:sldId id="269" r:id="rId15"/>
    <p:sldId id="270" r:id="rId16"/>
    <p:sldId id="278" r:id="rId17"/>
    <p:sldId id="272" r:id="rId18"/>
    <p:sldId id="277" r:id="rId19"/>
    <p:sldId id="273" r:id="rId20"/>
    <p:sldId id="274" r:id="rId21"/>
    <p:sldId id="275" r:id="rId22"/>
    <p:sldId id="276" r:id="rId23"/>
    <p:sldId id="271" r:id="rId24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10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854283-FDB5-4502-8E0E-B1B085FD2F71}" type="datetimeFigureOut">
              <a:rPr lang="x-none" smtClean="0"/>
              <a:pPr/>
              <a:t>4/10/2025</a:t>
            </a:fld>
            <a:endParaRPr lang="x-non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ED05AB-ADC5-4E7C-B0CC-153256025246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3215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C7EB2-D48C-5D5E-2450-2AF829657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9D3636-CCCE-4DD4-0FF5-812C6A680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77592-42CB-2035-2C21-A92763CB0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5F92A-F16F-4A80-B63C-89D210F86F56}" type="datetimeFigureOut">
              <a:rPr lang="x-none" smtClean="0"/>
              <a:pPr/>
              <a:t>4/10/2025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326B5-4AED-E594-B396-EDAA452E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32277-510B-1E8E-745B-81F651E72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358F5-E85C-4EB6-A836-801B42DA9CB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036519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444A0-EE79-EC1E-1FD1-1B26CD7B4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1EF88-4190-30D5-02C1-F0E9FC4E6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250F5-DF1B-AFA9-0BE3-6C16A1449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5F92A-F16F-4A80-B63C-89D210F86F56}" type="datetimeFigureOut">
              <a:rPr lang="x-none" smtClean="0"/>
              <a:pPr/>
              <a:t>4/10/2025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CD5D1-9431-3FEC-9EED-A27733F2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9132A-1B5D-EA43-156E-B9C5786C9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358F5-E85C-4EB6-A836-801B42DA9CB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72026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3E534-C6D2-4B3E-71F1-B9668BB88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CA0CA2-CCE8-EB60-FB55-E3423623C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A87A3-F279-C11A-5483-65BFE4BF3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5F92A-F16F-4A80-B63C-89D210F86F56}" type="datetimeFigureOut">
              <a:rPr lang="x-none" smtClean="0"/>
              <a:pPr/>
              <a:t>4/10/2025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73D60-5C95-78F6-0FF1-7A821CBF1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15E74-3A17-693D-ACEB-95CEA458B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358F5-E85C-4EB6-A836-801B42DA9CB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58479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D3A63-E272-CD7A-AA4D-810213E91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04048-342C-E064-C348-F3F4DA401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54480E-0830-35DF-7CEF-EF0EBE24F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D7EEA6-3641-F875-41BA-11969DEF5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5F92A-F16F-4A80-B63C-89D210F86F56}" type="datetimeFigureOut">
              <a:rPr lang="x-none" smtClean="0"/>
              <a:pPr/>
              <a:t>4/10/2025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421789-20E0-098C-C624-43BB7BE01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6496C-B16B-64FF-A73A-A5B01E0B8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358F5-E85C-4EB6-A836-801B42DA9CB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68923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993CA-C455-D7C6-F8A9-88B18B538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2DDD7-7A88-AEED-B1BE-338A67EAD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37402A-6E62-AA97-7562-7DB41943D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CC846D-E8D7-FE6E-FE32-3D585B70B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E4E673-ABF7-01DC-7B99-28A6C846AB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5DFE00-5127-4978-2F9C-ED9A9CE9C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5F92A-F16F-4A80-B63C-89D210F86F56}" type="datetimeFigureOut">
              <a:rPr lang="x-none" smtClean="0"/>
              <a:pPr/>
              <a:t>4/10/2025</a:t>
            </a:fld>
            <a:endParaRPr lang="x-non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2A1739-388B-C565-577C-6D1C0A818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DB5790-2F51-EB1E-20A2-813604FDA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358F5-E85C-4EB6-A836-801B42DA9CB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03649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48897-BA19-DA4A-6BAC-C2BD26D90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1C62DB-69FB-0358-5488-C7DDA9A00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5F92A-F16F-4A80-B63C-89D210F86F56}" type="datetimeFigureOut">
              <a:rPr lang="x-none" smtClean="0"/>
              <a:pPr/>
              <a:t>4/10/2025</a:t>
            </a:fld>
            <a:endParaRPr lang="x-non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4EA322-62DB-FF8F-7DE1-6659B0BE6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F24FCD-F12E-12AA-9EB6-19CEC7004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358F5-E85C-4EB6-A836-801B42DA9CB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23342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3C9344-02F1-053A-4E97-D10A10087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5F92A-F16F-4A80-B63C-89D210F86F56}" type="datetimeFigureOut">
              <a:rPr lang="x-none" smtClean="0"/>
              <a:pPr/>
              <a:t>4/10/2025</a:t>
            </a:fld>
            <a:endParaRPr lang="x-non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BF644-488A-7CB7-9299-A01A0B589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5BA1F-8041-D6FA-F256-36A7CA6C5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358F5-E85C-4EB6-A836-801B42DA9CB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917265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20848-47CE-ABFF-FDB0-6250179F1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A04CE-4CE5-D167-0A58-48A7DA8AE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8FC85C-4CA8-6028-0D20-EDB24E8D2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835F8F-93AB-5756-CB91-1C542F1AE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5F92A-F16F-4A80-B63C-89D210F86F56}" type="datetimeFigureOut">
              <a:rPr lang="x-none" smtClean="0"/>
              <a:pPr/>
              <a:t>4/10/2025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93ED3A-A6C4-F224-2B51-8716BAA23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040E5-EEFD-154A-46A6-CD966A661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358F5-E85C-4EB6-A836-801B42DA9CB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676457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60980-C1F4-5004-B47B-F8524918D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D451B4-36C5-E866-0BF8-CA9B58AED7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F88FE1-013C-B4E1-8715-86F1299F6B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EB1BA-2F08-E6B2-B5A7-75DD62CDB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5F92A-F16F-4A80-B63C-89D210F86F56}" type="datetimeFigureOut">
              <a:rPr lang="x-none" smtClean="0"/>
              <a:pPr/>
              <a:t>4/10/2025</a:t>
            </a:fld>
            <a:endParaRPr lang="x-non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B6C50B-FAEF-5671-09C1-DCFA26C5B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1B2CDB-6B39-6F30-2E03-B9404E14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358F5-E85C-4EB6-A836-801B42DA9CB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186464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EDAE3-A7C3-1169-13DF-9CA7DA7D1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F4FD2A-38FE-DE55-A769-D0E3BBBD41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7B2D9-7A42-7436-098D-FA4BB7D43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5F92A-F16F-4A80-B63C-89D210F86F56}" type="datetimeFigureOut">
              <a:rPr lang="x-none" smtClean="0"/>
              <a:pPr/>
              <a:t>4/10/2025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2DA56-4DFC-F130-9363-DFA38ABC5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D59D8-F1EC-0616-C059-D9BF74547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358F5-E85C-4EB6-A836-801B42DA9CB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752706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745E89-EB99-0C72-60EA-6A1DA99C17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2C5C65-539E-9240-8FC6-D282EEB00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217F0-3C40-42CC-A4AE-851B9753F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5F92A-F16F-4A80-B63C-89D210F86F56}" type="datetimeFigureOut">
              <a:rPr lang="x-none" smtClean="0"/>
              <a:pPr/>
              <a:t>4/10/2025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E4D5F-A184-27EA-EE8A-6DF9514BA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71190-53EB-AD92-CC30-16F26AF8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1358F5-E85C-4EB6-A836-801B42DA9CB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07406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FD8ECF-ECF2-B929-3492-23A4277CB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4879F-C397-62F1-2B5D-C5E8A102A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327785-B77A-4251-A7E9-BA248C4AE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5F92A-F16F-4A80-B63C-89D210F86F56}" type="datetimeFigureOut">
              <a:rPr lang="x-none" smtClean="0"/>
              <a:pPr/>
              <a:t>4/10/2025</a:t>
            </a:fld>
            <a:endParaRPr lang="x-non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E24DE-5637-0EF8-A7E3-555E200F6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504AC-0A86-4027-31DB-91C42764A6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1358F5-E85C-4EB6-A836-801B42DA9CBB}" type="slidenum">
              <a:rPr lang="x-none" smtClean="0"/>
              <a:pPr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461898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E1B9C30B-A435-3950-7AAE-4AFE2241AC3A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D21C26-742F-BC7B-3F83-52B184F83ADF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6AA6221-8D53-7BB7-EFF1-F72EDBD445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08150" y="420688"/>
            <a:ext cx="9191625" cy="1016000"/>
          </a:xfrm>
        </p:spPr>
        <p:txBody>
          <a:bodyPr vert="horz" wrap="square" lIns="91440" tIns="45720" rIns="91440" bIns="45720" anchor="b" anchorCtr="0"/>
          <a:lstStyle/>
          <a:p>
            <a:pPr eaLnBrk="1" hangingPunct="1">
              <a:buClrTx/>
              <a:buSzTx/>
              <a:buFontTx/>
            </a:pPr>
            <a:r>
              <a:rPr lang="en-US" altLang="en-US" sz="2800" b="1" kern="1200" dirty="0">
                <a:solidFill>
                  <a:srgbClr val="2F5496"/>
                </a:solidFill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MALLAREDDY COLLEGE OF ENGINEERING &amp; TECHNOLOGY</a:t>
            </a:r>
            <a:br>
              <a:rPr lang="en-US" altLang="en-US" sz="2800" kern="1200" dirty="0">
                <a:latin typeface="Calibri" panose="020F0502020204030204" pitchFamily="34" charset="0"/>
                <a:ea typeface="+mj-ea"/>
                <a:cs typeface="+mj-cs"/>
              </a:rPr>
            </a:br>
            <a:r>
              <a:rPr lang="en-US" altLang="en-US" sz="1400" b="1" kern="12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(AUTONOMUS INSTITUTION –UGC, GOVT. OF INDIA)</a:t>
            </a:r>
            <a:br>
              <a:rPr lang="en-US" altLang="en-US" sz="1400" kern="1200" dirty="0">
                <a:latin typeface="Calibri" panose="020F0502020204030204" pitchFamily="34" charset="0"/>
                <a:ea typeface="+mj-ea"/>
                <a:cs typeface="+mj-cs"/>
              </a:rPr>
            </a:br>
            <a:r>
              <a:rPr lang="en-US" altLang="en-US" sz="1400" b="1" kern="1200" dirty="0">
                <a:latin typeface="Calibri" panose="020F0502020204030204" pitchFamily="34" charset="0"/>
                <a:ea typeface="+mj-ea"/>
                <a:cs typeface="Calibri" panose="020F0502020204030204" pitchFamily="34" charset="0"/>
              </a:rPr>
              <a:t>Affiliated to JNTUH; Approved by AICTE, NBA-Tier 1 &amp; NAAC with A-GRADE| ISO 9001:2015</a:t>
            </a:r>
            <a:endParaRPr lang="en-US" altLang="en-IN" sz="2000" b="1" kern="1200" dirty="0">
              <a:latin typeface="Calibri" panose="020F0502020204030204" pitchFamily="34" charset="0"/>
              <a:ea typeface="+mj-ea"/>
              <a:cs typeface="+mj-cs"/>
            </a:endParaRP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A400B89E-9AA5-B58B-4FB1-B402E97EE1A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01625" y="265113"/>
            <a:ext cx="1452563" cy="14525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8F2FCC-48A3-5F7D-8CD1-BEAABE4F28F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545763" y="265113"/>
            <a:ext cx="1571625" cy="15732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60177F85-D0FF-C24D-8E8A-FEE46B4D3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7906" y="1253553"/>
            <a:ext cx="9701729" cy="4939340"/>
          </a:xfrm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>
              <a:lnSpc>
                <a:spcPts val="8459"/>
              </a:lnSpc>
            </a:pPr>
            <a:r>
              <a:rPr lang="en-US" b="1" dirty="0">
                <a:solidFill>
                  <a:srgbClr val="000000"/>
                </a:solidFill>
                <a:latin typeface="Times New Roman" pitchFamily="18" charset="0"/>
                <a:ea typeface="DM Sans Bold"/>
                <a:cs typeface="Times New Roman" pitchFamily="18" charset="0"/>
                <a:sym typeface="DM Sans Bold"/>
              </a:rPr>
              <a:t>AI-Driven Automated Video Generator for Content Creation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I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Team Members Details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800" b="1" dirty="0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1.D. ANIRUDH                 -    22N31A6626</a:t>
            </a: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800" b="1" dirty="0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2.B. VIGNESH REDDY     -    22N31A6626</a:t>
            </a:r>
          </a:p>
          <a:p>
            <a:pPr marL="514350" marR="0" lvl="0" indent="-51435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defRPr/>
            </a:pPr>
            <a:r>
              <a:rPr kumimoji="0" lang="en-US" altLang="en-I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3.</a:t>
            </a:r>
            <a:r>
              <a:rPr lang="en-US" sz="2800" b="1" dirty="0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B. RANJITH KUMAR    -    22N31A6622</a:t>
            </a:r>
            <a:endParaRPr kumimoji="0" lang="en-US" altLang="en-IN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Calibri Light" panose="020F0302020204030204" pitchFamily="34" charset="0"/>
              <a:buNone/>
              <a:defRPr/>
            </a:pP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II/III/IV Year B.Tech-I/II Semester –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CSE(AIML)/AIML</a:t>
            </a:r>
            <a:endParaRPr lang="en-IN" altLang="en-US" dirty="0"/>
          </a:p>
          <a:p>
            <a:pPr marL="0" marR="0" lvl="0" indent="0" algn="ctr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Calibri Light" panose="020F0302020204030204" pitchFamily="34" charset="0"/>
              <a:buNone/>
              <a:defRPr/>
            </a:pPr>
            <a:endParaRPr kumimoji="0" lang="en-I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5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en-I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Under the Guidance of</a:t>
            </a:r>
            <a:r>
              <a:rPr kumimoji="0" lang="en-US" alt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fontAlgn="base">
              <a:lnSpc>
                <a:spcPct val="50000"/>
              </a:lnSpc>
              <a:spcAft>
                <a:spcPct val="0"/>
              </a:spcAft>
              <a:defRPr/>
            </a:pPr>
            <a:r>
              <a:rPr lang="en-US" b="1" dirty="0">
                <a:solidFill>
                  <a:srgbClr val="FF0000"/>
                </a:solidFill>
                <a:latin typeface="Gotham Bold"/>
                <a:ea typeface="Gotham Bold"/>
                <a:cs typeface="Gotham Bold"/>
                <a:sym typeface="Gotham Bold"/>
              </a:rPr>
              <a:t>DR. L. MELINDA</a:t>
            </a:r>
          </a:p>
          <a:p>
            <a:pPr lvl="0" fontAlgn="base">
              <a:lnSpc>
                <a:spcPct val="50000"/>
              </a:lnSpc>
              <a:spcAft>
                <a:spcPct val="0"/>
              </a:spcAft>
              <a:defRPr/>
            </a:pPr>
            <a:r>
              <a:rPr lang="en-US" dirty="0">
                <a:solidFill>
                  <a:srgbClr val="191919"/>
                </a:solidFill>
                <a:latin typeface="Gotham Bold"/>
                <a:ea typeface="Gotham Bold"/>
                <a:cs typeface="Gotham Bold"/>
                <a:sym typeface="Gotham Bold"/>
              </a:rPr>
              <a:t>Assistant </a:t>
            </a:r>
            <a:r>
              <a:rPr kumimoji="0" lang="en-I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Professor </a:t>
            </a:r>
            <a:endParaRPr kumimoji="0" lang="en-US" altLang="en-IN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DE8FF6E6-29D5-FAF9-71C8-02A1F8255509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FDFA1ECF-BE15-9D04-4EFE-FA04D399CC39}"/>
              </a:ext>
            </a:extLst>
          </p:cNvPr>
          <p:cNvSpPr txBox="1">
            <a:spLocks/>
          </p:cNvSpPr>
          <p:nvPr/>
        </p:nvSpPr>
        <p:spPr>
          <a:xfrm>
            <a:off x="9209087" y="612538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1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609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9E63C2-1052-606F-1350-33F5460B2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9430ABE4-B537-7C90-B81C-681F6609394D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0DEA45-AD2B-8F21-AEFB-65B85D8D0BD4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1DF783C3-1EDD-6EAA-5E5C-412044A479C4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4E3EFF-EC32-592B-19C1-33B71DA70AD6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9E6E3C5A-B497-AE26-EE72-4BC9A097BC7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4E5DF2C-A923-30EB-6D8D-A85353A6A33F}"/>
              </a:ext>
            </a:extLst>
          </p:cNvPr>
          <p:cNvSpPr txBox="1">
            <a:spLocks/>
          </p:cNvSpPr>
          <p:nvPr/>
        </p:nvSpPr>
        <p:spPr>
          <a:xfrm>
            <a:off x="443971" y="509588"/>
            <a:ext cx="10515600" cy="59848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IN" sz="489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FF0EFCA-D097-C212-16F4-B1496C3657D3}"/>
              </a:ext>
            </a:extLst>
          </p:cNvPr>
          <p:cNvSpPr txBox="1">
            <a:spLocks/>
          </p:cNvSpPr>
          <p:nvPr/>
        </p:nvSpPr>
        <p:spPr>
          <a:xfrm>
            <a:off x="901382" y="1125581"/>
            <a:ext cx="10405110" cy="535114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IN" sz="2800" dirty="0">
                <a:latin typeface="Times New Roman" panose="02020603050405020304" pitchFamily="18" charset="0"/>
              </a:rPr>
              <a:t>Abstract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IN" sz="2800" dirty="0">
                <a:latin typeface="Times New Roman" panose="02020603050405020304" pitchFamily="18" charset="0"/>
              </a:rPr>
              <a:t>Introduction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IN" sz="2800" dirty="0">
                <a:latin typeface="Times New Roman" panose="02020603050405020304" pitchFamily="18" charset="0"/>
              </a:rPr>
              <a:t>Existing System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IN" sz="2800" dirty="0">
                <a:latin typeface="Times New Roman" panose="02020603050405020304" pitchFamily="18" charset="0"/>
              </a:rPr>
              <a:t>Proposed System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IN" sz="2800" dirty="0">
                <a:latin typeface="Times New Roman" panose="02020603050405020304" pitchFamily="18" charset="0"/>
              </a:rPr>
              <a:t>System Architecture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IN" sz="2800" dirty="0">
                <a:latin typeface="Times New Roman" panose="02020603050405020304" pitchFamily="18" charset="0"/>
              </a:rPr>
              <a:t>Requirements Specifications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IN" sz="2800" dirty="0">
                <a:latin typeface="Times New Roman" panose="02020603050405020304" pitchFamily="18" charset="0"/>
              </a:rPr>
              <a:t>System Models(UML Diagram)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IN" sz="2800" dirty="0">
                <a:latin typeface="Times New Roman" panose="02020603050405020304" pitchFamily="18" charset="0"/>
              </a:rPr>
              <a:t>Output Screenshots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IN" sz="2800" dirty="0">
                <a:latin typeface="Times New Roman" panose="02020603050405020304" pitchFamily="18" charset="0"/>
              </a:rPr>
              <a:t>Conclusion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F1E0ADE-6C86-9FA4-FBC6-8994E04FA5DF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2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016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9A00E-6C47-92BA-2AE0-32B8F106E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40DAD441-377C-ED76-A821-0303EE9A6E2F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B4DC6-932D-0115-06C4-1E99D087D58A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DE64E8C-0611-5424-51FD-87B90A5BB1D2}"/>
              </a:ext>
            </a:extLst>
          </p:cNvPr>
          <p:cNvSpPr txBox="1">
            <a:spLocks/>
          </p:cNvSpPr>
          <p:nvPr/>
        </p:nvSpPr>
        <p:spPr>
          <a:xfrm>
            <a:off x="443971" y="509588"/>
            <a:ext cx="10515600" cy="59848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IN" sz="489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62748D6-A8CF-9A53-0B34-987967D537E1}"/>
              </a:ext>
            </a:extLst>
          </p:cNvPr>
          <p:cNvSpPr txBox="1">
            <a:spLocks/>
          </p:cNvSpPr>
          <p:nvPr/>
        </p:nvSpPr>
        <p:spPr>
          <a:xfrm>
            <a:off x="893444" y="1013497"/>
            <a:ext cx="10405110" cy="535114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>
                <a:latin typeface="Times New Roman" pitchFamily="18" charset="0"/>
                <a:cs typeface="Times New Roman" pitchFamily="18" charset="0"/>
              </a:rPr>
              <a:t>The rapid growth of social media demands tools for effortless content creation.Traditional methods are manual, time-consuming, and rely on multiple platforms.Our proposed system is a fully automated video generation bot, streamlining the process from keyword-based script generation to final video rendering.It integrates ChatGPT for scripts, EdgeTTS for voiceovers, Whisper for captions, and Python-based video processing.Built with a user-friendly Streamlit interface, the system ensures full automation with flexibility for user customization. </a:t>
            </a:r>
          </a:p>
          <a:p>
            <a:pPr algn="l"/>
            <a:endParaRPr lang="en-US" altLang="en-IN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6F3DC896-5D0D-0AF6-AD2F-BFAEC514E434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15E56A-030D-1093-EFDD-B3D9814C9F32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F42EDA05-3B2A-4605-D3DA-A61B811F9BB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F0686955-48C0-216B-5670-518652638B2B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3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5783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A3A09-5721-D8BE-8E7F-509310762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D81356BF-023C-E08A-AAAF-F1162BF6F77B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33D8D0-3830-76F6-FA4D-4F7E49DEB168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71E9341-3059-4A80-4F3B-1120E41CEA92}"/>
              </a:ext>
            </a:extLst>
          </p:cNvPr>
          <p:cNvSpPr txBox="1">
            <a:spLocks/>
          </p:cNvSpPr>
          <p:nvPr/>
        </p:nvSpPr>
        <p:spPr>
          <a:xfrm>
            <a:off x="443971" y="509588"/>
            <a:ext cx="10515600" cy="59848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IN" sz="489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A9B330D-6E8B-173D-CEFC-B9C20729134C}"/>
              </a:ext>
            </a:extLst>
          </p:cNvPr>
          <p:cNvSpPr txBox="1">
            <a:spLocks/>
          </p:cNvSpPr>
          <p:nvPr/>
        </p:nvSpPr>
        <p:spPr>
          <a:xfrm>
            <a:off x="550508" y="1051070"/>
            <a:ext cx="10405110" cy="535114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81992" lvl="1" indent="-390996" algn="just">
              <a:lnSpc>
                <a:spcPts val="4889"/>
              </a:lnSpc>
              <a:spcBef>
                <a:spcPct val="0"/>
              </a:spcBef>
            </a:pPr>
            <a:r>
              <a:rPr lang="en-US" sz="3000" spc="217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 </a:t>
            </a:r>
            <a:r>
              <a:rPr lang="en-US" sz="3200" spc="217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The rapid rise of social media platforms has create a</a:t>
            </a:r>
          </a:p>
          <a:p>
            <a:pPr marL="781992" lvl="1" indent="-390996" algn="just">
              <a:lnSpc>
                <a:spcPts val="4889"/>
              </a:lnSpc>
              <a:spcBef>
                <a:spcPct val="0"/>
              </a:spcBef>
            </a:pPr>
            <a:r>
              <a:rPr lang="en-US" sz="3200" spc="217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 high demand for video content.Content creators face</a:t>
            </a:r>
          </a:p>
          <a:p>
            <a:pPr marL="781992" lvl="1" indent="-390996" algn="just">
              <a:lnSpc>
                <a:spcPts val="4889"/>
              </a:lnSpc>
              <a:spcBef>
                <a:spcPct val="0"/>
              </a:spcBef>
            </a:pPr>
            <a:r>
              <a:rPr lang="en-US" sz="3200" spc="217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 challenges such as brainstorming ideas, generating</a:t>
            </a:r>
          </a:p>
          <a:p>
            <a:pPr marL="781992" lvl="1" indent="-390996" algn="just">
              <a:lnSpc>
                <a:spcPts val="4889"/>
              </a:lnSpc>
              <a:spcBef>
                <a:spcPct val="0"/>
              </a:spcBef>
            </a:pPr>
            <a:r>
              <a:rPr lang="en-US" sz="3200" spc="217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 scripts, creating captions, and editing </a:t>
            </a:r>
            <a:r>
              <a:rPr lang="en-US" sz="3200" spc="217" dirty="0" err="1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videos.This</a:t>
            </a:r>
            <a:endParaRPr lang="en-US" sz="3200" spc="217" dirty="0">
              <a:solidFill>
                <a:srgbClr val="000000"/>
              </a:solidFill>
              <a:latin typeface="Times New Roman" pitchFamily="18" charset="0"/>
              <a:ea typeface="DM Sans"/>
              <a:cs typeface="Times New Roman" pitchFamily="18" charset="0"/>
              <a:sym typeface="DM Sans"/>
            </a:endParaRPr>
          </a:p>
          <a:p>
            <a:pPr marL="781992" lvl="1" indent="-390996" algn="just">
              <a:lnSpc>
                <a:spcPts val="4889"/>
              </a:lnSpc>
              <a:spcBef>
                <a:spcPct val="0"/>
              </a:spcBef>
            </a:pPr>
            <a:r>
              <a:rPr lang="en-US" sz="3200" spc="217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 project aims to simplify the video creation process</a:t>
            </a:r>
          </a:p>
          <a:p>
            <a:pPr marL="781992" lvl="1" indent="-390996" algn="just">
              <a:lnSpc>
                <a:spcPts val="4889"/>
              </a:lnSpc>
              <a:spcBef>
                <a:spcPct val="0"/>
              </a:spcBef>
            </a:pPr>
            <a:r>
              <a:rPr lang="en-US" sz="3200" spc="217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 by automating every step, from topic selection to</a:t>
            </a:r>
          </a:p>
          <a:p>
            <a:pPr marL="781992" lvl="1" indent="-390996" algn="just">
              <a:lnSpc>
                <a:spcPts val="4889"/>
              </a:lnSpc>
              <a:spcBef>
                <a:spcPct val="0"/>
              </a:spcBef>
            </a:pPr>
            <a:r>
              <a:rPr lang="en-US" sz="3200" spc="217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 final video output and social media upload.</a:t>
            </a:r>
          </a:p>
          <a:p>
            <a:pPr algn="l"/>
            <a:endParaRPr lang="en-US" altLang="en-IN" dirty="0">
              <a:latin typeface="Times New Roman" panose="02020603050405020304" pitchFamily="18" charset="0"/>
            </a:endParaRP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DAB8195F-6086-A6D9-AB34-FE3B4D8CB8F1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350DFF-A289-C783-D742-DC4C45683678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DFB54C2A-BE64-1C4B-3AA4-3062C3FB812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AA0EE22B-390E-6009-30CD-AA212B910A4F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4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1648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862D2-9537-38F9-56F8-0D9D60575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D8187542-8070-7B71-1280-2EFCC1A01046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2BED0E-7D0B-7BF0-264B-44B45C65F295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5EBD773-5ACA-2A00-611F-865445C22D99}"/>
              </a:ext>
            </a:extLst>
          </p:cNvPr>
          <p:cNvSpPr txBox="1">
            <a:spLocks/>
          </p:cNvSpPr>
          <p:nvPr/>
        </p:nvSpPr>
        <p:spPr>
          <a:xfrm>
            <a:off x="443971" y="509588"/>
            <a:ext cx="10515600" cy="59848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IN" sz="489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5007C56-D746-3906-595C-12D8DBAFA5D6}"/>
              </a:ext>
            </a:extLst>
          </p:cNvPr>
          <p:cNvSpPr txBox="1">
            <a:spLocks/>
          </p:cNvSpPr>
          <p:nvPr/>
        </p:nvSpPr>
        <p:spPr>
          <a:xfrm>
            <a:off x="893444" y="1121638"/>
            <a:ext cx="10405110" cy="535114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2299" lvl="1" indent="-356150" algn="just">
              <a:lnSpc>
                <a:spcPts val="4453"/>
              </a:lnSpc>
            </a:pPr>
            <a:r>
              <a:rPr lang="en-US" sz="2600" spc="197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Current tools provide isolated solutions like script generation,</a:t>
            </a:r>
          </a:p>
          <a:p>
            <a:pPr marL="712299" lvl="1" indent="-356150" algn="just">
              <a:lnSpc>
                <a:spcPts val="4453"/>
              </a:lnSpc>
            </a:pPr>
            <a:r>
              <a:rPr lang="en-US" sz="2600" spc="197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captioning, or video editing.Users often rely on multiple</a:t>
            </a:r>
          </a:p>
          <a:p>
            <a:pPr marL="712299" lvl="1" indent="-356150" algn="just">
              <a:lnSpc>
                <a:spcPts val="4453"/>
              </a:lnSpc>
            </a:pPr>
            <a:r>
              <a:rPr lang="en-US" sz="2600" spc="197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platforms to complete a single project.These systems are time</a:t>
            </a:r>
          </a:p>
          <a:p>
            <a:pPr marL="712299" lvl="1" indent="-356150" algn="just">
              <a:lnSpc>
                <a:spcPts val="4453"/>
              </a:lnSpc>
            </a:pPr>
            <a:r>
              <a:rPr lang="en-US" sz="2600" spc="197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consuming, lack integration, and are inefficient for fast-paced</a:t>
            </a:r>
          </a:p>
          <a:p>
            <a:pPr marL="712299" lvl="1" indent="-356150" algn="just">
              <a:lnSpc>
                <a:spcPts val="4453"/>
              </a:lnSpc>
            </a:pPr>
            <a:r>
              <a:rPr lang="en-US" sz="2600" spc="197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content creation needs.</a:t>
            </a:r>
          </a:p>
          <a:p>
            <a:pPr marL="712299" lvl="1" indent="-356150" algn="just">
              <a:lnSpc>
                <a:spcPts val="4453"/>
              </a:lnSpc>
            </a:pPr>
            <a:endParaRPr lang="en-US" sz="3299" spc="197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AAFD4A0A-8314-13BE-DBA7-A4FB08597427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C5151A-A8BB-A7B2-FF3E-23D0AD369C5C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6102CE51-9130-CD4E-2CC6-31C56F0AA5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9728BDD9-4931-AD9F-5EEA-5C5144852956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5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776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94F6F-C8B1-2ECD-ECC7-11B026E54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1A7BF529-0A90-9A6F-A36C-7657C313EA20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6B3E86-F56C-AD68-A7D6-113EF6D5E074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6EAEABF-12BB-4E88-A0BE-8A093FA7CB3F}"/>
              </a:ext>
            </a:extLst>
          </p:cNvPr>
          <p:cNvSpPr txBox="1">
            <a:spLocks/>
          </p:cNvSpPr>
          <p:nvPr/>
        </p:nvSpPr>
        <p:spPr>
          <a:xfrm>
            <a:off x="465236" y="651244"/>
            <a:ext cx="10515600" cy="59848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IN" sz="489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5960468-61E5-95EE-AE7B-3AA146D09855}"/>
              </a:ext>
            </a:extLst>
          </p:cNvPr>
          <p:cNvSpPr txBox="1">
            <a:spLocks/>
          </p:cNvSpPr>
          <p:nvPr/>
        </p:nvSpPr>
        <p:spPr>
          <a:xfrm>
            <a:off x="575726" y="1416112"/>
            <a:ext cx="10405110" cy="535114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2233" lvl="1" indent="-341116" algn="just">
              <a:lnSpc>
                <a:spcPct val="10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8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bot that automates the entire content creation process, starting from keyword input to final video rendering.</a:t>
            </a:r>
          </a:p>
          <a:p>
            <a:pPr marL="682233" lvl="1" indent="-341116" algn="just">
              <a:lnSpc>
                <a:spcPct val="100000"/>
              </a:lnSpc>
              <a:spcBef>
                <a:spcPct val="0"/>
              </a:spcBef>
              <a:buFont typeface="Arial"/>
              <a:buChar char="•"/>
            </a:pPr>
            <a:r>
              <a:rPr lang="en-US" sz="2400" spc="18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Integrates advanced AI tools:</a:t>
            </a:r>
          </a:p>
          <a:p>
            <a:pPr marL="1364465" lvl="2" indent="-454822" algn="just">
              <a:lnSpc>
                <a:spcPct val="100000"/>
              </a:lnSpc>
              <a:spcBef>
                <a:spcPct val="0"/>
              </a:spcBef>
              <a:buFont typeface="Arial"/>
              <a:buChar char="⚬"/>
            </a:pPr>
            <a:r>
              <a:rPr lang="en-US" sz="2400" spc="18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ChatGPT for script generation.</a:t>
            </a:r>
          </a:p>
          <a:p>
            <a:pPr marL="1364465" lvl="2" indent="-454822" algn="just">
              <a:lnSpc>
                <a:spcPct val="100000"/>
              </a:lnSpc>
              <a:spcBef>
                <a:spcPct val="0"/>
              </a:spcBef>
              <a:buFont typeface="Arial"/>
              <a:buChar char="⚬"/>
            </a:pPr>
            <a:r>
              <a:rPr lang="en-US" sz="2400" spc="18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EdgeTTS for voiceovers.</a:t>
            </a:r>
          </a:p>
          <a:p>
            <a:pPr marL="1364465" lvl="2" indent="-454822" algn="just">
              <a:lnSpc>
                <a:spcPct val="100000"/>
              </a:lnSpc>
              <a:spcBef>
                <a:spcPct val="0"/>
              </a:spcBef>
              <a:buFont typeface="Arial"/>
              <a:buChar char="⚬"/>
            </a:pPr>
            <a:r>
              <a:rPr lang="en-US" sz="2400" spc="189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Whisper for caption generation.</a:t>
            </a:r>
          </a:p>
          <a:p>
            <a:pPr marL="1372765" lvl="2" indent="-457588" algn="just">
              <a:lnSpc>
                <a:spcPct val="100000"/>
              </a:lnSpc>
              <a:buFont typeface="Arial"/>
              <a:buChar char="⚬"/>
            </a:pPr>
            <a:r>
              <a:rPr lang="en-US" sz="2400" spc="19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Python-based search engine for finding relevant video clips.</a:t>
            </a:r>
          </a:p>
          <a:p>
            <a:pPr marL="686382" lvl="1" indent="-343191" algn="just">
              <a:lnSpc>
                <a:spcPct val="100000"/>
              </a:lnSpc>
              <a:buFont typeface="Arial"/>
              <a:buChar char="•"/>
            </a:pPr>
            <a:r>
              <a:rPr lang="en-US" sz="2400" spc="190" dirty="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user-friendly GUI built with Streamlit ensures seamless interaction and complete flexibility for customization.</a:t>
            </a:r>
          </a:p>
          <a:p>
            <a:pPr algn="l">
              <a:lnSpc>
                <a:spcPct val="100000"/>
              </a:lnSpc>
            </a:pPr>
            <a:endParaRPr lang="en-US" altLang="en-IN" dirty="0">
              <a:latin typeface="Times New Roman" panose="02020603050405020304" pitchFamily="18" charset="0"/>
            </a:endParaRP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93942C56-50B1-50A8-C3D1-A9B4DA898AC5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3505D6-1E50-25BF-3D69-E5502A0188FD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D8D23E64-5F69-BAC4-6C6A-878BA3414AD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</p:spTree>
    <p:extLst>
      <p:ext uri="{BB962C8B-B14F-4D97-AF65-F5344CB8AC3E}">
        <p14:creationId xmlns:p14="http://schemas.microsoft.com/office/powerpoint/2010/main" val="184524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B139E-AAAF-9973-25DC-CB4231417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98DDD209-BAD1-4194-2A9D-B164D515E522}"/>
              </a:ext>
            </a:extLst>
          </p:cNvPr>
          <p:cNvSpPr/>
          <p:nvPr/>
        </p:nvSpPr>
        <p:spPr>
          <a:xfrm>
            <a:off x="0" y="646430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3E4717-2F62-E558-86F3-5DFA1B57DE66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7389907-A9C4-34E6-8047-31C2FBEF3719}"/>
              </a:ext>
            </a:extLst>
          </p:cNvPr>
          <p:cNvSpPr txBox="1">
            <a:spLocks/>
          </p:cNvSpPr>
          <p:nvPr/>
        </p:nvSpPr>
        <p:spPr>
          <a:xfrm>
            <a:off x="443971" y="509588"/>
            <a:ext cx="10515600" cy="59848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IN" sz="489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B5454663-7A03-F4E1-92D8-8E3D83A847A6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846F14-9500-CD76-0960-47234107EA9D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B1EBFD92-AD3B-70B8-9F18-CCB53E27F62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0879C87F-2922-FC14-ADAD-9D499DE319FC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7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  <p:pic>
        <p:nvPicPr>
          <p:cNvPr id="12" name="Picture 2" descr="C:\Users\DELL\Downloads\arch.drawi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6479" y="1121390"/>
            <a:ext cx="9487465" cy="510577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44563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2D804-87B5-32D3-D9E7-58FAA6DE0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086F5FD9-63B6-01FA-1A8D-56D0186A9E21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C2F849-6F80-6B46-CFE8-FED5ADEFE369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200420E-CC38-E653-80BC-E39167A9FCE2}"/>
              </a:ext>
            </a:extLst>
          </p:cNvPr>
          <p:cNvSpPr txBox="1">
            <a:spLocks/>
          </p:cNvSpPr>
          <p:nvPr/>
        </p:nvSpPr>
        <p:spPr>
          <a:xfrm>
            <a:off x="3632859" y="2830512"/>
            <a:ext cx="4942153" cy="59848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</a:t>
            </a:r>
          </a:p>
          <a:p>
            <a:pPr>
              <a:defRPr/>
            </a:pPr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Specifications</a:t>
            </a:r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729413D4-E731-724F-293B-F5ABDF9DAC1E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060B36-B1FD-0C3B-CAB6-F85FEC9935D5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C63A1C13-4394-5F99-A65C-A94B66E9E1E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AD3BF877-142D-2057-3B58-1DEBB8651E64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8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756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E7506-7F76-6B2F-BEC0-B23F74A95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8E6C9041-E0C0-5DCB-9F01-633B8C388724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D4FB06-88E5-1D68-2375-B152328AEE1E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2C0D6A17-699F-CE84-2E58-4B149A9BD853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96E584-62B4-E9EA-97AE-BE6DF3036E9F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94D78613-63E8-3502-7028-C05B82EDA89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AA922D68-75D9-7386-4031-04A9B438F2FE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9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E3B6B-C334-26BF-20F8-67B777F5D02F}"/>
              </a:ext>
            </a:extLst>
          </p:cNvPr>
          <p:cNvSpPr txBox="1">
            <a:spLocks/>
          </p:cNvSpPr>
          <p:nvPr/>
        </p:nvSpPr>
        <p:spPr>
          <a:xfrm>
            <a:off x="146470" y="1114949"/>
            <a:ext cx="9794972" cy="4371452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64464" lvl="2" indent="-454821" algn="just">
              <a:lnSpc>
                <a:spcPts val="4265"/>
              </a:lnSpc>
              <a:buFont typeface="Arial"/>
              <a:buChar char="⚬"/>
            </a:pPr>
            <a:r>
              <a:rPr lang="en-US" sz="2400" b="1" spc="189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IDE:</a:t>
            </a:r>
            <a:r>
              <a:rPr lang="en-US" sz="2400" spc="189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VS Code</a:t>
            </a:r>
          </a:p>
          <a:p>
            <a:pPr marL="1364464" lvl="2" indent="-454821" algn="just">
              <a:lnSpc>
                <a:spcPts val="4265"/>
              </a:lnSpc>
              <a:buFont typeface="Arial"/>
              <a:buChar char="⚬"/>
            </a:pPr>
            <a:r>
              <a:rPr lang="en-US" sz="2400" b="1" spc="189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Programming Language:</a:t>
            </a:r>
            <a:r>
              <a:rPr lang="en-US" sz="2400" spc="189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 Python 3.11</a:t>
            </a:r>
          </a:p>
          <a:p>
            <a:pPr marL="1364464" lvl="2" indent="-454821" algn="just">
              <a:lnSpc>
                <a:spcPts val="4265"/>
              </a:lnSpc>
              <a:buFont typeface="Arial"/>
              <a:buChar char="⚬"/>
            </a:pPr>
            <a:r>
              <a:rPr lang="en-US" sz="2400" b="1" spc="189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DM Sans"/>
              </a:rPr>
              <a:t>Framework:</a:t>
            </a:r>
            <a:r>
              <a:rPr lang="en-US" sz="2400" spc="189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DM Sans"/>
              </a:rPr>
              <a:t> Streamlit</a:t>
            </a:r>
          </a:p>
          <a:p>
            <a:pPr marL="1364464" lvl="2" indent="-454821" algn="just">
              <a:lnSpc>
                <a:spcPts val="4265"/>
              </a:lnSpc>
              <a:buFont typeface="Arial"/>
              <a:buChar char="⚬"/>
            </a:pPr>
            <a:r>
              <a:rPr lang="en-US" sz="2400" b="1" spc="189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DM Sans"/>
              </a:rPr>
              <a:t>Libraries:</a:t>
            </a:r>
            <a:r>
              <a:rPr lang="en-US" sz="2400" spc="189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DM Sans"/>
              </a:rPr>
              <a:t> OpenAI, EdgeTTS, Whisper, MoviePy, FFmpeg, NumPy, Pandas</a:t>
            </a:r>
            <a:endParaRPr lang="en-US" sz="2400" spc="189" dirty="0">
              <a:solidFill>
                <a:srgbClr val="000000"/>
              </a:solidFill>
              <a:latin typeface="Times New Roman" pitchFamily="18" charset="0"/>
              <a:ea typeface="DM Sans"/>
              <a:cs typeface="Times New Roman" pitchFamily="18" charset="0"/>
              <a:sym typeface="DM Sans"/>
            </a:endParaRPr>
          </a:p>
          <a:p>
            <a:pPr algn="l"/>
            <a:endParaRPr lang="en-US" alt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9D58EEB-48DC-423E-A50A-4347A839F947}"/>
              </a:ext>
            </a:extLst>
          </p:cNvPr>
          <p:cNvSpPr txBox="1">
            <a:spLocks/>
          </p:cNvSpPr>
          <p:nvPr/>
        </p:nvSpPr>
        <p:spPr>
          <a:xfrm>
            <a:off x="443971" y="509588"/>
            <a:ext cx="10515600" cy="59848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IN" sz="489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17364049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A62DE-51BC-AAF9-7BB1-5D9B7BCAF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861DA09C-B682-1C2E-3EAB-E7326602D67D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2CDD90-5D3A-8473-9E5F-33EFD066DB39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6BFD1C35-A42A-D332-3EAD-2F7D0C70B145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6F5756-C755-B04F-0C19-C866C04C056B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FBFED8B0-4637-FF16-80A4-BF12C2A88DE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B0577467-A8E2-FDFE-CE9B-8A10C5DD8219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10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9206A68-EB6E-63F9-0C77-F364533AF1D2}"/>
              </a:ext>
            </a:extLst>
          </p:cNvPr>
          <p:cNvSpPr txBox="1">
            <a:spLocks/>
          </p:cNvSpPr>
          <p:nvPr/>
        </p:nvSpPr>
        <p:spPr>
          <a:xfrm>
            <a:off x="0" y="1242539"/>
            <a:ext cx="10405110" cy="535114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64464" lvl="2" indent="-454821" algn="just">
              <a:lnSpc>
                <a:spcPts val="4265"/>
              </a:lnSpc>
              <a:buFont typeface="Arial"/>
              <a:buChar char="⚬"/>
            </a:pPr>
            <a:r>
              <a:rPr lang="en-US" sz="2400" b="1" spc="189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Processor: </a:t>
            </a:r>
            <a:r>
              <a:rPr lang="en-US" sz="2400" spc="189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Intel Core i5 12500H</a:t>
            </a:r>
          </a:p>
          <a:p>
            <a:pPr marL="1364464" lvl="2" indent="-454821" algn="just">
              <a:lnSpc>
                <a:spcPts val="4265"/>
              </a:lnSpc>
              <a:buFont typeface="Arial"/>
              <a:buChar char="⚬"/>
            </a:pPr>
            <a:r>
              <a:rPr lang="en-US" sz="2400" b="1" spc="189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RAM: </a:t>
            </a:r>
            <a:r>
              <a:rPr lang="en-US" sz="2400" spc="189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16 GB</a:t>
            </a:r>
          </a:p>
          <a:p>
            <a:pPr marL="1364464" lvl="2" indent="-454821" algn="just">
              <a:lnSpc>
                <a:spcPts val="4265"/>
              </a:lnSpc>
              <a:buFont typeface="Arial"/>
              <a:buChar char="⚬"/>
            </a:pPr>
            <a:r>
              <a:rPr lang="en-US" sz="2400" b="1" spc="189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Storage: </a:t>
            </a:r>
            <a:r>
              <a:rPr lang="en-US" sz="2400" spc="189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20 GB free space</a:t>
            </a:r>
          </a:p>
          <a:p>
            <a:pPr marL="1364464" lvl="2" indent="-454821" algn="just">
              <a:lnSpc>
                <a:spcPts val="4265"/>
              </a:lnSpc>
              <a:buFont typeface="Arial"/>
              <a:buChar char="⚬"/>
            </a:pPr>
            <a:r>
              <a:rPr lang="en-US" sz="2400" b="1" spc="189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GPU: </a:t>
            </a:r>
            <a:r>
              <a:rPr lang="en-US" sz="2400" spc="189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RTX 3050 4GB</a:t>
            </a:r>
          </a:p>
          <a:p>
            <a:pPr marL="1364464" lvl="2" indent="-454821" algn="just">
              <a:lnSpc>
                <a:spcPts val="4265"/>
              </a:lnSpc>
              <a:buFont typeface="Arial"/>
              <a:buChar char="⚬"/>
            </a:pPr>
            <a:r>
              <a:rPr lang="en-US" sz="2400" b="1" spc="189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Operating System: </a:t>
            </a:r>
            <a:r>
              <a:rPr lang="en-US" sz="2400" spc="189" dirty="0">
                <a:solidFill>
                  <a:srgbClr val="000000"/>
                </a:solidFill>
                <a:latin typeface="Times New Roman" pitchFamily="18" charset="0"/>
                <a:ea typeface="DM Sans"/>
                <a:cs typeface="Times New Roman" pitchFamily="18" charset="0"/>
                <a:sym typeface="DM Sans"/>
              </a:rPr>
              <a:t>Windows 10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3592D45-6C3D-9A8D-F0EA-C8060B12375E}"/>
              </a:ext>
            </a:extLst>
          </p:cNvPr>
          <p:cNvSpPr txBox="1">
            <a:spLocks/>
          </p:cNvSpPr>
          <p:nvPr/>
        </p:nvSpPr>
        <p:spPr>
          <a:xfrm>
            <a:off x="443971" y="615914"/>
            <a:ext cx="10515600" cy="59848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IN" sz="489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 Specifications</a:t>
            </a:r>
          </a:p>
        </p:txBody>
      </p:sp>
    </p:spTree>
    <p:extLst>
      <p:ext uri="{BB962C8B-B14F-4D97-AF65-F5344CB8AC3E}">
        <p14:creationId xmlns:p14="http://schemas.microsoft.com/office/powerpoint/2010/main" val="1932129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CE0E-16E4-B477-D8B9-2EDA96629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1761FE9E-6B9C-22C4-B217-369E5666C3D6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272BD6-DF8E-8D41-23C3-30763D7275EA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E4D4A6-7BBB-968D-4EFD-79B1F7848A85}"/>
              </a:ext>
            </a:extLst>
          </p:cNvPr>
          <p:cNvSpPr txBox="1">
            <a:spLocks/>
          </p:cNvSpPr>
          <p:nvPr/>
        </p:nvSpPr>
        <p:spPr>
          <a:xfrm>
            <a:off x="3042931" y="3123673"/>
            <a:ext cx="6090261" cy="59848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Models</a:t>
            </a:r>
          </a:p>
          <a:p>
            <a:pPr>
              <a:defRPr/>
            </a:pPr>
            <a:r>
              <a:rPr lang="en-IN" sz="40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(UML Diagrams)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B325BCA7-9E1B-82D2-A3AE-C0635D84C361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9123F4-1D17-E3FF-53C7-C6C2E045D566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7095D0F4-7B93-B1E8-EEA2-8E2B98B9FCD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C7448B5B-A85F-EFF0-057D-1EB1E0F3A053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11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67095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753AF-09D3-65E7-8708-E371A4C6E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1849E127-8193-A810-5445-323EFA47A099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3187F7-5B88-1183-E5B2-347A0B38F453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EE6C77-FC87-826F-97F3-5F8D0116F17D}"/>
              </a:ext>
            </a:extLst>
          </p:cNvPr>
          <p:cNvSpPr txBox="1">
            <a:spLocks/>
          </p:cNvSpPr>
          <p:nvPr/>
        </p:nvSpPr>
        <p:spPr>
          <a:xfrm>
            <a:off x="443971" y="509588"/>
            <a:ext cx="10515600" cy="59848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IN" sz="489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9E09A10D-5236-E461-381F-3F951F6BBD14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137DD2-3B91-DC5B-E068-D4AB88A13AEF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74969CED-1C6C-52C3-B447-CA7BC2C9574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769695B9-5F95-717F-4A95-58A7428A390A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12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4BA67A-AA36-C02A-5A9B-C5F4E282D4D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5028" y="1147759"/>
            <a:ext cx="6697817" cy="5029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2325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5F8A7-3ADF-149D-90E4-DC99ED45D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CD019C2-F8D9-70C0-D4E1-40C85C7D3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499" y="808831"/>
            <a:ext cx="3454903" cy="5368131"/>
          </a:xfrm>
          <a:prstGeom prst="rect">
            <a:avLst/>
          </a:prstGeom>
        </p:spPr>
      </p:pic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29456A66-14A3-E1A7-F67F-71F30E0A8908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952EAD-B932-C18E-546A-681133C9FCAA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76F7180-6924-28DE-E7F3-E5D8823439BF}"/>
              </a:ext>
            </a:extLst>
          </p:cNvPr>
          <p:cNvSpPr txBox="1">
            <a:spLocks/>
          </p:cNvSpPr>
          <p:nvPr/>
        </p:nvSpPr>
        <p:spPr>
          <a:xfrm>
            <a:off x="443971" y="509588"/>
            <a:ext cx="10515600" cy="59848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IN" sz="489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00736B8C-9FC5-129D-C9F6-F3430F537C97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6A33AF-F3EE-F092-27BE-6ED01056FEA1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EE485022-910C-BF55-278F-9CEE4EA800E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BFCC592-AA73-E798-3A88-E532ED342E3B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13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968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E1B18-0CE5-622A-E145-B0CB60809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DFBABF48-F469-C215-0B36-96913A6C1CD4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56BE4F-BD70-3882-06C5-87D94971D3EA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0F1C31E-1774-ADEC-0BFF-8453C675F2DA}"/>
              </a:ext>
            </a:extLst>
          </p:cNvPr>
          <p:cNvSpPr txBox="1">
            <a:spLocks/>
          </p:cNvSpPr>
          <p:nvPr/>
        </p:nvSpPr>
        <p:spPr>
          <a:xfrm>
            <a:off x="443971" y="509588"/>
            <a:ext cx="10515600" cy="59848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IN" sz="489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7C684CF4-EFEC-B78F-6A28-E2D984CA0D49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89EF99-BBB8-7C81-0461-B914B5AD9E90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42846827-85E4-50D8-6816-4AEFBA4C798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04CBD19-6181-6B76-4B1F-C50FF63B4A65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14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C1388AE-28EC-56F8-3C5F-C6474128D0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152" y="914401"/>
            <a:ext cx="8162556" cy="5106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628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73FC8-0CE5-7314-0CAB-7438BAE3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B05DDA94-8059-3559-43DE-68D14EC3C4A3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16A3D-BB8A-212F-BD35-821142AD15C2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ABED0BC-C20C-92CB-1BD7-E964EA36CD35}"/>
              </a:ext>
            </a:extLst>
          </p:cNvPr>
          <p:cNvSpPr txBox="1">
            <a:spLocks/>
          </p:cNvSpPr>
          <p:nvPr/>
        </p:nvSpPr>
        <p:spPr>
          <a:xfrm>
            <a:off x="443971" y="509588"/>
            <a:ext cx="10515600" cy="59848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IN" sz="489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ECE423C0-9C8F-5F67-89EE-90513C1CF11D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5CD94-C6C6-ADB2-D7C7-7BEE153EEB3F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A4D228E4-0939-4C1F-5D26-5FAD7EBA91A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63C7EE32-3ABA-D10A-4792-672FBA9110DE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15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9E28D8D-837F-45BA-3C9A-317CC0217B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923" y="1118726"/>
            <a:ext cx="9237920" cy="513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670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7744A-1912-A909-8EEC-ACC0A8572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3B83142D-654B-B079-7DD5-7161A6D15D50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A81BB-1FD2-BEC3-9CAA-00BB0BC41106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0701C24-D8B1-233C-F68E-48ED77FD8050}"/>
              </a:ext>
            </a:extLst>
          </p:cNvPr>
          <p:cNvSpPr txBox="1">
            <a:spLocks/>
          </p:cNvSpPr>
          <p:nvPr/>
        </p:nvSpPr>
        <p:spPr>
          <a:xfrm>
            <a:off x="2801516" y="2364036"/>
            <a:ext cx="6090261" cy="183178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IN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Screenshots</a:t>
            </a:r>
            <a:endParaRPr lang="en-IN" sz="400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9953D912-E229-8A96-B452-6CFFCE189537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665769-F502-6038-E670-1BAEDD1E29F5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6C54B2F6-88E3-F5C3-123E-4E1EAF28D6A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AE068F41-25D2-4AB5-4D47-34F60A429909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16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6151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8743A-A924-DB9D-DD6B-FBCA5AFE7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5A933C7B-B415-9365-BE89-6BAF113965EA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86ACE-3C2B-47D3-7A71-E96486F865B4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8857BB8-457C-A714-4193-3EB996F9282B}"/>
              </a:ext>
            </a:extLst>
          </p:cNvPr>
          <p:cNvSpPr txBox="1">
            <a:spLocks/>
          </p:cNvSpPr>
          <p:nvPr/>
        </p:nvSpPr>
        <p:spPr>
          <a:xfrm>
            <a:off x="443971" y="509588"/>
            <a:ext cx="10515600" cy="59848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endParaRPr lang="en-IN" sz="4890" b="1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1F86A5A3-CE52-9656-5AAB-0FB5479D9FC0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1FCF64-72B8-AEAE-AB72-72E5BD3A7275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8C5CF373-56DE-B890-1AAD-687CD96BF4D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799C33E-0AD9-32E0-ACA6-22B0A09FE613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17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B3B7C0D-95F0-FA30-C863-0B9B27A41B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133" y="1419278"/>
            <a:ext cx="10083607" cy="332739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24BDA17-339D-E192-3C14-D4C5C49EC405}"/>
              </a:ext>
            </a:extLst>
          </p:cNvPr>
          <p:cNvSpPr txBox="1"/>
          <p:nvPr/>
        </p:nvSpPr>
        <p:spPr>
          <a:xfrm>
            <a:off x="3035709" y="5113346"/>
            <a:ext cx="612058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90"/>
              </a:spcAft>
            </a:pPr>
            <a:r>
              <a:rPr lang="en-IN" sz="1800" b="1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</a:rPr>
              <a:t>Fig </a:t>
            </a:r>
            <a:r>
              <a:rPr lang="en-IN" b="1" dirty="0">
                <a:latin typeface="Times New Roman" panose="02020603050405020304" pitchFamily="18" charset="0"/>
                <a:ea typeface="Segoe UI Symbol" panose="020B0502040204020203" pitchFamily="34" charset="0"/>
              </a:rPr>
              <a:t>1: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</a:rPr>
              <a:t> Initialization of application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77976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4D830-9609-CDA2-156F-5CA33A4D3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86E82629-5471-06BE-4B12-8E5466A58B56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53F3C0-8149-C259-5386-CEE38C04398E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3F66EB5C-E15F-8F04-F4B9-D64E39AC35A9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932F96-F3AB-4385-A1D4-51B92036A635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6FCF5BAF-CD9C-EB2B-43D8-EE931EB6FD1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65A7625B-190F-9A07-BADC-6AB40E572116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18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9DE31D-D257-B953-8E3F-D40EDC3868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374" y="737614"/>
            <a:ext cx="9338737" cy="502442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1A0945C-821A-1488-7849-78280EC21242}"/>
              </a:ext>
            </a:extLst>
          </p:cNvPr>
          <p:cNvSpPr txBox="1"/>
          <p:nvPr/>
        </p:nvSpPr>
        <p:spPr>
          <a:xfrm>
            <a:off x="2889452" y="5718889"/>
            <a:ext cx="612058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90"/>
              </a:spcAft>
            </a:pPr>
            <a:r>
              <a:rPr lang="en-IN" sz="1800" b="1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</a:rPr>
              <a:t>Fig </a:t>
            </a:r>
            <a:r>
              <a:rPr lang="en-IN" b="1" dirty="0">
                <a:latin typeface="Times New Roman" panose="02020603050405020304" pitchFamily="18" charset="0"/>
                <a:ea typeface="Segoe UI Symbol" panose="020B0502040204020203" pitchFamily="34" charset="0"/>
              </a:rPr>
              <a:t>2:</a:t>
            </a:r>
            <a:r>
              <a:rPr lang="en-IN" sz="1800" b="1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</a:rPr>
              <a:t> Script Generation phase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376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DEBF6-1A97-3407-0021-02448EF5E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1633222C-1CC0-28AD-1731-C15C09B1A64E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665D6C-D3C1-973A-7C6D-D1F35B3CB618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6E6B5FD0-F6FE-465E-CA39-2E8F225DBB47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6411D7-64AF-3F4F-58EC-AB530CC40753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C76F7C13-DC91-4820-2669-CC3F1CD9BD4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F826CDB6-686C-9DDB-CBC0-C330AC8CF119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19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DDE2C4-CB4D-8146-9B09-B6675DC79F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468" y="743939"/>
            <a:ext cx="9688432" cy="490691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6E0BF4B-92EA-5B19-D939-134A2272B2C2}"/>
              </a:ext>
            </a:extLst>
          </p:cNvPr>
          <p:cNvSpPr txBox="1"/>
          <p:nvPr/>
        </p:nvSpPr>
        <p:spPr>
          <a:xfrm>
            <a:off x="4359014" y="5775470"/>
            <a:ext cx="4131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</a:rPr>
              <a:t>Fig 3: Voiceover Generation Phase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2426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9C2D4-B9E3-8558-1F5D-4A03F8353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43988B9E-8D2D-E7C5-AD58-89BB09EC149F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61D6C9-8935-5CCE-658D-E408F5BBCC17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B110B1CC-0E07-BC2E-7A0A-1FD6F6382EBE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FF1701-1480-5CDD-B649-5473A1823A8A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973F66B4-79F8-973F-D064-12AEBB6E0EF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F4E5D813-1B80-1A41-6052-C66E0EBB83C3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20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DB3BE8F-3784-8960-459B-E2E3260E9C2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5242" y="839757"/>
            <a:ext cx="9633127" cy="470491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2CB9ED2-78C3-FF6A-2089-E17A2DACC0AD}"/>
              </a:ext>
            </a:extLst>
          </p:cNvPr>
          <p:cNvSpPr txBox="1"/>
          <p:nvPr/>
        </p:nvSpPr>
        <p:spPr>
          <a:xfrm>
            <a:off x="2801516" y="5698072"/>
            <a:ext cx="612058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90"/>
              </a:spcAft>
            </a:pPr>
            <a:r>
              <a:rPr lang="en-IN" sz="1800" b="1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</a:rPr>
              <a:t>Fig 4: Video Rendering Phase Shell Interface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45155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8BEDA-5151-5885-25B7-9615FFEAA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B95123D3-BDFE-4D02-E24B-261B2A282089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1FF35F-E6DD-E0BD-79EA-855F2F91B2F3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F414E090-B254-AC35-376F-AF400417477A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009C7A-2311-6B3F-B528-A473E8922EBD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C2F25562-6616-19E8-2170-47D1CA83F15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05632ECF-EAB4-6DFE-0128-616CC1E38485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21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BA9944-0058-65AB-1123-DF51E619AC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73" y="727110"/>
            <a:ext cx="9714688" cy="49001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996CA2-ED58-315C-7F43-6FC5C5F5340B}"/>
              </a:ext>
            </a:extLst>
          </p:cNvPr>
          <p:cNvSpPr txBox="1"/>
          <p:nvPr/>
        </p:nvSpPr>
        <p:spPr>
          <a:xfrm>
            <a:off x="2670227" y="5691804"/>
            <a:ext cx="612058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90"/>
              </a:spcAft>
            </a:pPr>
            <a:r>
              <a:rPr lang="en-IN" sz="1800" b="1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</a:rPr>
              <a:t>Fig 5: Video Generation Phase on GUI 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6514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3BB3B-9E67-4360-679A-DA135D337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7EBE33A8-3F2B-74CC-B4D0-FAE391F6D202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35B19F-48CF-C918-0FC0-10C2F385ECBD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CB4755D0-E3C1-9FB0-5812-ED03E6B6CA62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62CAB8-21F8-D52C-8038-A19F8FA5942F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0EFC16D0-2A7B-3BFF-F14C-DC73F38FD5F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CF36EA5C-6F86-76D7-AFF1-039F4E2108A8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22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B17FB3-70AD-0FED-80A4-EEB3C13D73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096" y="714023"/>
            <a:ext cx="9777917" cy="48458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E6C046D-7ECF-704F-0733-C9D87032FC69}"/>
              </a:ext>
            </a:extLst>
          </p:cNvPr>
          <p:cNvSpPr txBox="1"/>
          <p:nvPr/>
        </p:nvSpPr>
        <p:spPr>
          <a:xfrm>
            <a:off x="2970796" y="5670499"/>
            <a:ext cx="6266282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90"/>
              </a:spcAft>
            </a:pPr>
            <a:r>
              <a:rPr lang="en-IN" sz="1800" b="1" dirty="0">
                <a:effectLst/>
                <a:latin typeface="Times New Roman" panose="02020603050405020304" pitchFamily="18" charset="0"/>
                <a:ea typeface="Segoe UI Symbol" panose="020B0502040204020203" pitchFamily="34" charset="0"/>
              </a:rPr>
              <a:t>Fig 6: Generated Video Successfully Displayed to The User</a:t>
            </a:r>
            <a:endParaRPr lang="en-IN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0766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7CE3F-206B-FF66-7E85-B9F6D2817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6E3394D2-240C-293F-84BC-AAE51C7D2721}"/>
              </a:ext>
            </a:extLst>
          </p:cNvPr>
          <p:cNvSpPr/>
          <p:nvPr/>
        </p:nvSpPr>
        <p:spPr>
          <a:xfrm>
            <a:off x="0" y="6462940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0F305C-6A20-3C54-6036-58C2818B1303}"/>
              </a:ext>
            </a:extLst>
          </p:cNvPr>
          <p:cNvSpPr txBox="1"/>
          <p:nvPr/>
        </p:nvSpPr>
        <p:spPr>
          <a:xfrm>
            <a:off x="443971" y="6490513"/>
            <a:ext cx="112881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Rounded MT Bold" pitchFamily="34" charset="0"/>
                <a:ea typeface="+mn-ea"/>
                <a:cs typeface="+mn-cs"/>
              </a:rPr>
              <a:t>B.Tech III Year – II Sem | Dept of Computational Intelligence| Application Development – II | Project Review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017B7A6-5107-0E28-C1DA-BE5B96CA35EE}"/>
              </a:ext>
            </a:extLst>
          </p:cNvPr>
          <p:cNvSpPr txBox="1">
            <a:spLocks/>
          </p:cNvSpPr>
          <p:nvPr/>
        </p:nvSpPr>
        <p:spPr>
          <a:xfrm>
            <a:off x="443971" y="509588"/>
            <a:ext cx="10515600" cy="598488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normAutofit fontScale="9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n-IN" sz="489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4DB72A4E-F177-F103-6B2D-05C1D30CDEF5}"/>
              </a:ext>
            </a:extLst>
          </p:cNvPr>
          <p:cNvSpPr/>
          <p:nvPr/>
        </p:nvSpPr>
        <p:spPr>
          <a:xfrm>
            <a:off x="-15875" y="-10805"/>
            <a:ext cx="12207875" cy="393700"/>
          </a:xfrm>
          <a:prstGeom prst="rect">
            <a:avLst/>
          </a:prstGeom>
          <a:solidFill>
            <a:srgbClr val="5B9BD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I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Rounded MT Bold" pitchFamily="34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664F33-1364-C0BA-2506-3C1C6FF2C96C}"/>
              </a:ext>
            </a:extLst>
          </p:cNvPr>
          <p:cNvSpPr txBox="1"/>
          <p:nvPr/>
        </p:nvSpPr>
        <p:spPr>
          <a:xfrm>
            <a:off x="2801516" y="16768"/>
            <a:ext cx="65889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MALLA REDDY COLLEGE OF ENGINEERING AND TECHNOLOGY</a:t>
            </a:r>
            <a:endParaRPr lang="x-none" sz="1600" b="1" dirty="0"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6">
            <a:extLst>
              <a:ext uri="{FF2B5EF4-FFF2-40B4-BE49-F238E27FC236}">
                <a16:creationId xmlns:a16="http://schemas.microsoft.com/office/drawing/2014/main" id="{315ED282-95CD-1819-0B6F-AAEF5D5D0C5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99775" y="-128587"/>
            <a:ext cx="1276350" cy="1276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4D9ECAC6-C86B-BD47-DFDC-E3351740CA7B}"/>
              </a:ext>
            </a:extLst>
          </p:cNvPr>
          <p:cNvSpPr txBox="1">
            <a:spLocks/>
          </p:cNvSpPr>
          <p:nvPr/>
        </p:nvSpPr>
        <p:spPr>
          <a:xfrm>
            <a:off x="9067800" y="617696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="ctr" anchorCtr="0"/>
          <a:lstStyle>
            <a:defPPr>
              <a:defRPr lang="x-non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</a:pPr>
            <a:fld id="{9A0DB2DC-4C9A-4742-B13C-FB6460FD3503}" type="slidenum">
              <a:rPr lang="en-IN" altLang="en-US" sz="1200" b="1" smtClean="0">
                <a:solidFill>
                  <a:srgbClr val="C00000"/>
                </a:solidFill>
              </a:rPr>
              <a:pPr algn="r">
                <a:spcBef>
                  <a:spcPct val="0"/>
                </a:spcBef>
              </a:pPr>
              <a:t>23</a:t>
            </a:fld>
            <a:endParaRPr lang="en-IN" altLang="en-US" sz="1200" b="1" dirty="0">
              <a:solidFill>
                <a:srgbClr val="C00000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B1BB66E-B7B9-A665-4512-B2CB160CAAC2}"/>
              </a:ext>
            </a:extLst>
          </p:cNvPr>
          <p:cNvSpPr txBox="1">
            <a:spLocks/>
          </p:cNvSpPr>
          <p:nvPr/>
        </p:nvSpPr>
        <p:spPr>
          <a:xfrm>
            <a:off x="901382" y="1112431"/>
            <a:ext cx="10405110" cy="535114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Features a custom rendering engine for seamless video production.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Automates the entire content creation process, from script generation to video rendering.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Utilizes ChatGPT for scriptwriting and advanced generative AI for video creation.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Integrates EdgeTTS for voiceovers and Whisper for generating timed captions.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Reduces manual effort and saves time for content creators.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Offers flexibility for user modifications at any stage.</a:t>
            </a:r>
          </a:p>
          <a:p>
            <a:pPr lvl="0" algn="l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itchFamily="18" charset="0"/>
                <a:cs typeface="Times New Roman" pitchFamily="18" charset="0"/>
              </a:rPr>
              <a:t>Provides an efficient, user-friendly solution for producing high-quality, social media-ready videos. </a:t>
            </a:r>
          </a:p>
        </p:txBody>
      </p:sp>
    </p:spTree>
    <p:extLst>
      <p:ext uri="{BB962C8B-B14F-4D97-AF65-F5344CB8AC3E}">
        <p14:creationId xmlns:p14="http://schemas.microsoft.com/office/powerpoint/2010/main" val="854143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1251</Words>
  <Application>Microsoft Office PowerPoint</Application>
  <PresentationFormat>Widescreen</PresentationFormat>
  <Paragraphs>147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Arial Rounded MT Bold</vt:lpstr>
      <vt:lpstr>Calibri</vt:lpstr>
      <vt:lpstr>Calibri Light</vt:lpstr>
      <vt:lpstr>DM Sans</vt:lpstr>
      <vt:lpstr>Gotham Bold</vt:lpstr>
      <vt:lpstr>Times New Roman</vt:lpstr>
      <vt:lpstr>Office Theme</vt:lpstr>
      <vt:lpstr>MALLAREDDY COLLEGE OF ENGINEERING &amp; TECHNOLOGY (AUTONOMUS INSTITUTION –UGC, GOVT. OF INDIA) Affiliated to JNTUH; Approved by AICTE, NBA-Tier 1 &amp; NAAC with A-GRADE| ISO 9001:2015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MALLAREDDY COLLEGE OF ENGINEERING &amp; TECHNOLOGY (AUTONOMUS INSTITUTION –UGC, GOVT. OF INDIA) Affiliated to JNTUH; Approved by AICTE, NBA-Tier 1 &amp; NAAC with A-GRADE| ISO 9001:2015</dc:title>
  <dc:creator>supreeth kumar</dc:creator>
  <cp:lastModifiedBy>D Anirudh</cp:lastModifiedBy>
  <cp:revision>40</cp:revision>
  <dcterms:created xsi:type="dcterms:W3CDTF">2025-02-21T15:42:40Z</dcterms:created>
  <dcterms:modified xsi:type="dcterms:W3CDTF">2025-04-10T08:46:52Z</dcterms:modified>
</cp:coreProperties>
</file>